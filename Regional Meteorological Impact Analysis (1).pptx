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Poppins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  <p:embeddedFont>
      <p:font typeface="Merriweather"/>
      <p:regular r:id="rId32"/>
      <p:bold r:id="rId33"/>
      <p:italic r:id="rId34"/>
      <p:boldItalic r:id="rId35"/>
    </p:embeddedFont>
    <p:embeddedFont>
      <p:font typeface="DM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82F3CC1-9845-4C57-90A6-E5D867338DD8}">
  <a:tblStyle styleId="{582F3CC1-9845-4C57-90A6-E5D867338DD8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F81BD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F81BD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Poppins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Inter-regular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5.xml"/><Relationship Id="rId33" Type="http://schemas.openxmlformats.org/officeDocument/2006/relationships/font" Target="fonts/Merriweather-bold.fntdata"/><Relationship Id="rId10" Type="http://schemas.openxmlformats.org/officeDocument/2006/relationships/slide" Target="slides/slide4.xml"/><Relationship Id="rId32" Type="http://schemas.openxmlformats.org/officeDocument/2006/relationships/font" Target="fonts/Merriweather-regular.fntdata"/><Relationship Id="rId13" Type="http://schemas.openxmlformats.org/officeDocument/2006/relationships/slide" Target="slides/slide7.xml"/><Relationship Id="rId35" Type="http://schemas.openxmlformats.org/officeDocument/2006/relationships/font" Target="fonts/Merriweather-boldItalic.fntdata"/><Relationship Id="rId12" Type="http://schemas.openxmlformats.org/officeDocument/2006/relationships/slide" Target="slides/slide6.xml"/><Relationship Id="rId34" Type="http://schemas.openxmlformats.org/officeDocument/2006/relationships/font" Target="fonts/Merriweather-italic.fntdata"/><Relationship Id="rId15" Type="http://schemas.openxmlformats.org/officeDocument/2006/relationships/slide" Target="slides/slide9.xml"/><Relationship Id="rId37" Type="http://schemas.openxmlformats.org/officeDocument/2006/relationships/font" Target="fonts/DMSans-bold.fntdata"/><Relationship Id="rId14" Type="http://schemas.openxmlformats.org/officeDocument/2006/relationships/slide" Target="slides/slide8.xml"/><Relationship Id="rId36" Type="http://schemas.openxmlformats.org/officeDocument/2006/relationships/font" Target="fonts/DMSans-regular.fntdata"/><Relationship Id="rId17" Type="http://schemas.openxmlformats.org/officeDocument/2006/relationships/slide" Target="slides/slide11.xml"/><Relationship Id="rId39" Type="http://schemas.openxmlformats.org/officeDocument/2006/relationships/font" Target="fonts/DMSans-boldItalic.fntdata"/><Relationship Id="rId16" Type="http://schemas.openxmlformats.org/officeDocument/2006/relationships/slide" Target="slides/slide10.xml"/><Relationship Id="rId38" Type="http://schemas.openxmlformats.org/officeDocument/2006/relationships/font" Target="fonts/DMSans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08cc0481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e08cc0481b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08cc0481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e08cc0481b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6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Relationship Id="rId4" Type="http://schemas.openxmlformats.org/officeDocument/2006/relationships/image" Target="../media/image4.png"/><Relationship Id="rId5" Type="http://schemas.openxmlformats.org/officeDocument/2006/relationships/image" Target="../media/image18.png"/><Relationship Id="rId6" Type="http://schemas.openxmlformats.org/officeDocument/2006/relationships/image" Target="../media/image25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665089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Regional Meteorological Impact Analysis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531989"/>
            <a:ext cx="1104900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Comparing RNN Architectures and Gradient Boosting for NYC Temperature &amp; Commerce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362325" y="4888110"/>
            <a:ext cx="5467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Data Science Internship Report | Spring 2026 | Advisor: Dr. Che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1905000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2495550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Inspired by an extreme cold snap at the start of the 2026 semester, this research explores the nexus between regional climate patterns and urban economic activity.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695325" y="36004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762000" y="3600450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Foundation: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Utilizing climate data as a research baseline.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95325" y="39052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62000" y="3905250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Significance: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Everyday impact of weather on planetary life.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95325" y="45148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4514850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Objective: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Comparing predictive power across different computational architectures.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381000"/>
            <a:ext cx="90011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Introduction &amp; Motivation</a:t>
            </a:r>
            <a:endParaRPr/>
          </a:p>
        </p:txBody>
      </p:sp>
      <p:pic>
        <p:nvPicPr>
          <p:cNvPr id="101" name="Google Shape;101;p14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0" l="16919" r="16913" t="0"/>
          <a:stretch/>
        </p:blipFill>
        <p:spPr>
          <a:xfrm rot="-300207">
            <a:off x="6606105" y="1599992"/>
            <a:ext cx="4970440" cy="3658027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52687"/>
            <a:ext cx="3555950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7950" y="2452687"/>
            <a:ext cx="3555950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4400" y="2452687"/>
            <a:ext cx="3556099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782638" y="3529012"/>
            <a:ext cx="313367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Extraction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57250" y="3967162"/>
            <a:ext cx="2984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Mapping NCEI station codes and isolating regional CSV data into structured directories.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4529089" y="3529012"/>
            <a:ext cx="313367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Feature Engineering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603700" y="3967162"/>
            <a:ext cx="2984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Creating lag features and cyclical temporal encoding using sine/cosine transformations.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275535" y="3529012"/>
            <a:ext cx="313382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Model &amp; Verification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350150" y="3967162"/>
            <a:ext cx="29845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XGBoost with 200 trees, 0.05 learning rate, and 80/20 train-test split validation.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49375" y="279558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7251" y="2795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85275" y="2795587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71500" y="381000"/>
            <a:ext cx="90011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Standard Operating Processes (SOP)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19337"/>
            <a:ext cx="6400800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3300" y="2319337"/>
            <a:ext cx="4267200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933450" y="2605087"/>
            <a:ext cx="604075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NCEI Dataset Challenge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33450" y="3043237"/>
            <a:ext cx="5753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Initial attempts with global datasets resulted in a high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10.07°F average error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due to: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7639050" y="2605087"/>
            <a:ext cx="38804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Solution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7639050" y="3043237"/>
            <a:ext cx="3695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Pivoted to a refined Kaggle dataset (1992-2021) for U.S. weather stations, leading to a "mid_atlantic_weather.csv" file.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057275" y="37957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123950" y="3795712"/>
            <a:ext cx="5562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Unit Scaling: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Temperatures recorded in tenths of a degree Celsius (e.g., 25°C = 250).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1057275" y="44053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1123950" y="4405312"/>
            <a:ext cx="5562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Type Inconsistency: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Mix of string and float types caused issues with XGBoost calculations.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381000"/>
            <a:ext cx="90011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 Sourcing &amp; Initial Hurdles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1905000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571500" y="2276475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After cleaning data, the XGBoost model achieved a precision of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1.16°F error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71500" y="3076575"/>
            <a:ext cx="5600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Key Findings:</a:t>
            </a:r>
            <a:endParaRPr/>
          </a:p>
        </p:txBody>
      </p:sp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05000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695325" y="35147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762000" y="3514725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Newark, NJ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was identified as the top predictor due to extreme geographic proximity.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95325" y="41243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762000" y="4124325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Removing Newark forced the model to find balanced correlations among remaining regional stations.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95325" y="47339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762000" y="4733925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Primary Factor: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Physical distance dominates the model's decision-making process.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71500" y="381000"/>
            <a:ext cx="90011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Regional Predictors for NYC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50731" y="5456093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717406" y="5456093"/>
            <a:ext cx="5143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This is somewhat obvious and as such I decided, to try something different as we will see.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6019809" y="6056395"/>
            <a:ext cx="560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For these predictors, physical proximity to the locations are the best predictors.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/>
          <p:nvPr/>
        </p:nvSpPr>
        <p:spPr>
          <a:xfrm>
            <a:off x="5619750" y="2038350"/>
            <a:ext cx="95250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0" y="2095500"/>
            <a:ext cx="12192000" cy="173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Weather-Driven Commerce Inferences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3238500" y="4210050"/>
            <a:ext cx="5715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Translating meteorological variables into economic friction levels and logistical shifts.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83147"/>
            <a:ext cx="355595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7950" y="2083147"/>
            <a:ext cx="355595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4400" y="2083147"/>
            <a:ext cx="3556099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571500" y="5293072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Average Predictive Error for Rain: 1.81 mm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782638" y="3159472"/>
            <a:ext cx="313367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Low Friction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857250" y="3597622"/>
            <a:ext cx="2984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0.0 mm:</a:t>
            </a: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Peak commerce. High foot traffic in districts like SoHo. Logistics operate at max efficiency.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4529089" y="3159472"/>
            <a:ext cx="313367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Medium Friction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4603700" y="3597622"/>
            <a:ext cx="2984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0.1–5.0 mm:</a:t>
            </a: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The "Digital Shift." In-person traffic drops; spike in E-commerce and food delivery.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8275535" y="3159472"/>
            <a:ext cx="313382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High Friction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8350150" y="3597622"/>
            <a:ext cx="29845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&gt; 5.0 mm:</a:t>
            </a: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Logistical Disruption. Systematic pause in spending. Heavy delays in PA "Logistics Belt."</a:t>
            </a:r>
            <a:endParaRPr/>
          </a:p>
        </p:txBody>
      </p:sp>
      <p:pic>
        <p:nvPicPr>
          <p:cNvPr descr="image.png" id="175" name="Google Shape;17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20800" y="24260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7251" y="24260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42425" y="2426047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571500" y="381000"/>
            <a:ext cx="90011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Rainfall &amp; Economic Friction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533250" y="5727350"/>
            <a:ext cx="5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/>
          <p:nvPr/>
        </p:nvSpPr>
        <p:spPr>
          <a:xfrm>
            <a:off x="571500" y="381000"/>
            <a:ext cx="900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Rainfall </a:t>
            </a: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&amp; Economic Friction</a:t>
            </a:r>
            <a:endParaRPr/>
          </a:p>
        </p:txBody>
      </p:sp>
      <p:pic>
        <p:nvPicPr>
          <p:cNvPr id="185" name="Google Shape;18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87500"/>
            <a:ext cx="5762625" cy="523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6452375" y="1406875"/>
            <a:ext cx="53340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DM Sans"/>
                <a:ea typeface="DM Sans"/>
                <a:cs typeface="DM Sans"/>
                <a:sym typeface="DM Sans"/>
              </a:rPr>
              <a:t>With these findings you could look a locations Friction </a:t>
            </a:r>
            <a:r>
              <a:rPr lang="en-US" sz="1500">
                <a:latin typeface="DM Sans"/>
                <a:ea typeface="DM Sans"/>
                <a:cs typeface="DM Sans"/>
                <a:sym typeface="DM Sans"/>
              </a:rPr>
              <a:t>Coefficient</a:t>
            </a:r>
            <a:r>
              <a:rPr lang="en-US" sz="1500">
                <a:latin typeface="DM Sans"/>
                <a:ea typeface="DM Sans"/>
                <a:cs typeface="DM Sans"/>
                <a:sym typeface="DM Sans"/>
              </a:rPr>
              <a:t> and compare to another locations to then be able to see how </a:t>
            </a:r>
            <a:r>
              <a:rPr lang="en-US" sz="1500">
                <a:latin typeface="DM Sans"/>
                <a:ea typeface="DM Sans"/>
                <a:cs typeface="DM Sans"/>
                <a:sym typeface="DM Sans"/>
              </a:rPr>
              <a:t>much</a:t>
            </a:r>
            <a:r>
              <a:rPr lang="en-US" sz="1500">
                <a:latin typeface="DM Sans"/>
                <a:ea typeface="DM Sans"/>
                <a:cs typeface="DM Sans"/>
                <a:sym typeface="DM Sans"/>
              </a:rPr>
              <a:t> the environment “slows down” the traditional economy and forces a shift from physical to digital channels.</a:t>
            </a:r>
            <a:endParaRPr sz="15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6452375" y="4178650"/>
            <a:ext cx="53340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DM Sans"/>
                <a:ea typeface="DM Sans"/>
                <a:cs typeface="DM Sans"/>
                <a:sym typeface="DM Sans"/>
              </a:rPr>
              <a:t>Example: </a:t>
            </a:r>
            <a:r>
              <a:rPr lang="en-US" sz="1500">
                <a:latin typeface="DM Sans"/>
                <a:ea typeface="DM Sans"/>
                <a:cs typeface="DM Sans"/>
                <a:sym typeface="DM Sans"/>
              </a:rPr>
              <a:t>A logistics company would be able to realize that in Scranton, they would need to account for a higher percentage in delivery surges when compared to NYC Central Park. This in turn means that people might be more inclined to order stuff online in Scranton, </a:t>
            </a:r>
            <a:r>
              <a:rPr lang="en-US" sz="1500">
                <a:latin typeface="DM Sans"/>
                <a:ea typeface="DM Sans"/>
                <a:cs typeface="DM Sans"/>
                <a:sym typeface="DM Sans"/>
              </a:rPr>
              <a:t>when</a:t>
            </a:r>
            <a:r>
              <a:rPr lang="en-US" sz="1500">
                <a:latin typeface="DM Sans"/>
                <a:ea typeface="DM Sans"/>
                <a:cs typeface="DM Sans"/>
                <a:sym typeface="DM Sans"/>
              </a:rPr>
              <a:t> compared to NYC Central Park.</a:t>
            </a:r>
            <a:endParaRPr sz="15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324225"/>
            <a:ext cx="5334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571500" y="2524125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Transitioning to inference models for municipal energy requirements using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Heating Degree Days (HDD)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7153275" y="2695575"/>
            <a:ext cx="41361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16,033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6153150" y="4010025"/>
            <a:ext cx="5600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Predicted HDD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6286500" y="4448175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Allowing preemptive grid adjustments.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504825" y="38766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571500" y="3876675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Baseline set to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65°F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to quantify thermal deficit.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504825" y="41814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571500" y="4181475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Model forecasted daily fluctuations within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1.15°F error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504825" y="44862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571500" y="4486275"/>
            <a:ext cx="53340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Total predicted energy load: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16,033.8 HDD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for the test period.</a:t>
            </a:r>
            <a:endParaRPr b="0" i="0" sz="1500" u="none" cap="none" strike="noStrike"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This means that over the last 60 days of the test sample, a utility provider would see this number and order fuel/power, as the AI predicted this potential usage, instead of just randomly guessing.</a:t>
            </a:r>
            <a:endParaRPr sz="1500"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571500" y="381000"/>
            <a:ext cx="90011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Energy Demand Forecasting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521154" y="5216979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1905000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571500" y="2497187"/>
            <a:ext cx="5600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Multilayer Perceptron (MLP)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571500" y="2935337"/>
            <a:ext cx="5334000" cy="64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Standard deep network. Achieved a remarkable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R2 score of 0.9927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, proving highly structural regional data.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571500" y="3770262"/>
            <a:ext cx="5600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CNN Surrogate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571500" y="4208412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Adapted 1D weather sequences as a spatial grid. Proved that geographic "pixel patterns" could be extracted. Final MAE: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1.46°F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pic>
        <p:nvPicPr>
          <p:cNvPr descr="image.png" id="214" name="Google Shape;21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05000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571500" y="381000"/>
            <a:ext cx="90011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Deep Learning Architectures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"/>
          <p:cNvSpPr txBox="1"/>
          <p:nvPr/>
        </p:nvSpPr>
        <p:spPr>
          <a:xfrm>
            <a:off x="571500" y="381000"/>
            <a:ext cx="900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Architecture Comparison Matrix</a:t>
            </a:r>
            <a:endParaRPr/>
          </a:p>
        </p:txBody>
      </p:sp>
      <p:graphicFrame>
        <p:nvGraphicFramePr>
          <p:cNvPr id="221" name="Google Shape;221;p23"/>
          <p:cNvGraphicFramePr/>
          <p:nvPr/>
        </p:nvGraphicFramePr>
        <p:xfrm>
          <a:off x="581025" y="18859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{582F3CC1-9845-4C57-90A6-E5D867338DD8}</a:tableStyleId>
              </a:tblPr>
              <a:tblGrid>
                <a:gridCol w="2205925"/>
                <a:gridCol w="2626525"/>
                <a:gridCol w="2553900"/>
                <a:gridCol w="3643600"/>
              </a:tblGrid>
              <a:tr h="66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59E0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59E0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Simple RNN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59E0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59E0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LSTM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66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8FAFC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Memory Length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CA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Very Short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Medium/Long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Long-Term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9E0B"/>
                    </a:solidFill>
                  </a:tcPr>
                </a:tc>
              </a:tr>
              <a:tr h="66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8FAFC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Complexity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CA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Low (1 Gate)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Medium (2 Gates)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High (3 Gates)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9E0B"/>
                    </a:solidFill>
                  </a:tcPr>
                </a:tc>
              </a:tr>
              <a:tr h="66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8FAFC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Training Speed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CA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Fastest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Fast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Slower (Resource Intensive)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9E0B"/>
                    </a:solidFill>
                  </a:tcPr>
                </a:tc>
              </a:tr>
              <a:tr h="66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8FAFC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Gradient Stability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CA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Poor (Vanishing)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Good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Excellent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9E0B"/>
                    </a:solidFill>
                  </a:tcPr>
                </a:tc>
              </a:tr>
              <a:tr h="66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8FAFC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Best Use Case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CA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Simple Sequences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Efficiency/Speed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Complex Time-Series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9E0B"/>
                    </a:solidFill>
                  </a:tcPr>
                </a:tc>
              </a:tr>
            </a:tbl>
          </a:graphicData>
        </a:graphic>
      </p:graphicFrame>
      <p:pic>
        <p:nvPicPr>
          <p:cNvPr descr="image.png" id="222" name="Google Shape;22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38339" y="2113612"/>
            <a:ext cx="838200" cy="25428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 txBox="1"/>
          <p:nvPr/>
        </p:nvSpPr>
        <p:spPr>
          <a:xfrm>
            <a:off x="1104900" y="1202775"/>
            <a:ext cx="872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Quantitative and Qualitative Benchmarking of Sequential Models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300" y="4581850"/>
            <a:ext cx="10951500" cy="1802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4"/>
          <p:cNvSpPr txBox="1"/>
          <p:nvPr/>
        </p:nvSpPr>
        <p:spPr>
          <a:xfrm>
            <a:off x="571500" y="381000"/>
            <a:ext cx="90011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Time Series Model Benchmarking</a:t>
            </a:r>
            <a:endParaRPr/>
          </a:p>
        </p:txBody>
      </p:sp>
      <p:pic>
        <p:nvPicPr>
          <p:cNvPr descr="image.png" id="230" name="Google Shape;23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50" y="1177912"/>
            <a:ext cx="3555950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7450" y="1177912"/>
            <a:ext cx="3555950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4850" y="1177912"/>
            <a:ext cx="3555950" cy="2714625"/>
          </a:xfrm>
          <a:prstGeom prst="rect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3" name="Google Shape;233;p24"/>
          <p:cNvSpPr txBox="1"/>
          <p:nvPr/>
        </p:nvSpPr>
        <p:spPr>
          <a:xfrm>
            <a:off x="654628" y="1390650"/>
            <a:ext cx="3046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Simple RNN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727075" y="2223513"/>
            <a:ext cx="29019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→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Logic: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Uses the hidden state of the previous step as input for the current.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727075" y="3004200"/>
            <a:ext cx="2901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→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Flaw: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Suffers from "Vanishing Gradients"—it forgets the start of the week by the time it reaches Friday.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727075" y="1747500"/>
            <a:ext cx="290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🔄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4381875" y="1390650"/>
            <a:ext cx="3047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GRU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4454475" y="2151900"/>
            <a:ext cx="29019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→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Logic: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Uses "Update" and "Reset" gates to streamline information flow.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4454475" y="3070863"/>
            <a:ext cx="29019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→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Trade-off: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Faster and more efficient than LSTM, but lacks a dedicated memory cell.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8242300" y="2223513"/>
            <a:ext cx="2882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→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Logic: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Features a "Cell State" (long-term memory) and three complex gates.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8242300" y="3127663"/>
            <a:ext cx="2882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→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Win: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Superior at maintaining thermal trends across weeks or months.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4454475" y="1672800"/>
            <a:ext cx="290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⚡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8170155" y="1383413"/>
            <a:ext cx="302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LSTM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8242300" y="1786398"/>
            <a:ext cx="288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🧠</a:t>
            </a:r>
            <a:endParaRPr/>
          </a:p>
        </p:txBody>
      </p:sp>
      <p:pic>
        <p:nvPicPr>
          <p:cNvPr descr="image.png" id="245" name="Google Shape;24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350" y="4630500"/>
            <a:ext cx="11049000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 txBox="1"/>
          <p:nvPr/>
        </p:nvSpPr>
        <p:spPr>
          <a:xfrm>
            <a:off x="929725" y="4916250"/>
            <a:ext cx="109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The Scientific Prediction: Why LSTM Wins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641788" y="5221050"/>
            <a:ext cx="104298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Weather is characterized by </a:t>
            </a:r>
            <a:r>
              <a:rPr b="1" i="0" lang="en-US" sz="1425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multi-scale dependencies</a:t>
            </a:r>
            <a:r>
              <a:rPr b="0" i="0" lang="en-US" sz="142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. A cold snap like the one in 2026 isn't just a 24-hour event; it's the result of pressure systems moving over days. The </a:t>
            </a:r>
            <a:r>
              <a:rPr b="1" i="0" lang="en-US" sz="1425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LSTM's Forget Gate</a:t>
            </a:r>
            <a:r>
              <a:rPr b="0" i="0" lang="en-US" sz="142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allows it to discard daily noise while preserving the overarching arctic trend, leading to the lowest MAE of 5.52°F.</a:t>
            </a:r>
            <a:endParaRPr/>
          </a:p>
        </p:txBody>
      </p:sp>
      <p:sp>
        <p:nvSpPr>
          <p:cNvPr id="248" name="Google Shape;248;p24"/>
          <p:cNvSpPr/>
          <p:nvPr/>
        </p:nvSpPr>
        <p:spPr>
          <a:xfrm>
            <a:off x="380900" y="4424100"/>
            <a:ext cx="11049000" cy="20130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9" name="Google Shape;249;p24"/>
          <p:cNvGraphicFramePr/>
          <p:nvPr/>
        </p:nvGraphicFramePr>
        <p:xfrm>
          <a:off x="380900" y="4424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{582F3CC1-9845-4C57-90A6-E5D867338DD8}</a:tableStyleId>
              </a:tblPr>
              <a:tblGrid>
                <a:gridCol w="1868525"/>
                <a:gridCol w="2414725"/>
                <a:gridCol w="1044475"/>
                <a:gridCol w="5721250"/>
              </a:tblGrid>
              <a:tr h="50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3F0D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Model Architecture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3F0D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Mean Absolute Error (MAE)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3F0D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R2 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3F0D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Characteristics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50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Simple RNN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5.68°F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0.8268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Robust baseline; captures seasonal patterns despite gradient issues.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LSTM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CA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5.52°F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CA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0.8363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CA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Highest precision; preserves long-term state. High computational overhead.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CAA0"/>
                    </a:solidFill>
                  </a:tcPr>
                </a:tc>
              </a:tr>
              <a:tr h="50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6.13°F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0.8017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Streamlined alternative; faster training time but slightly lower accuracy.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0" name="Google Shape;250;p24"/>
          <p:cNvSpPr/>
          <p:nvPr/>
        </p:nvSpPr>
        <p:spPr>
          <a:xfrm>
            <a:off x="380900" y="4936813"/>
            <a:ext cx="1868400" cy="96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2249437" y="4936813"/>
            <a:ext cx="2414700" cy="96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4664173" y="4936813"/>
            <a:ext cx="1044600" cy="96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5708649" y="4936813"/>
            <a:ext cx="5721300" cy="96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380900" y="5432113"/>
            <a:ext cx="1868400" cy="96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2249437" y="5432113"/>
            <a:ext cx="2414700" cy="96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4664173" y="5432113"/>
            <a:ext cx="1044600" cy="96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5708649" y="5432113"/>
            <a:ext cx="5721300" cy="96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8" name="Google Shape;25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58939" y="1493212"/>
            <a:ext cx="838200" cy="254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1625" y="2143125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1625" y="2143125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/>
          <p:nvPr/>
        </p:nvSpPr>
        <p:spPr>
          <a:xfrm>
            <a:off x="6286500" y="2181225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experience provided valuable insight into regional weather precision, specifically confirming the superiority of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LSTM architectures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for meteorological time-series data.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6286500" y="3286125"/>
            <a:ext cx="560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If possible f</a:t>
            </a: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uture Goals: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6286500" y="5133975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Special thanks to Dr. Che for project oversight.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6219825" y="37242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6286500" y="3724275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Acquire direct transactional/energy data to validate current inferences.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6219825" y="43338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6286500" y="4333875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Expand usage of advanced Python libraries for non-linear modeling.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571500" y="381000"/>
            <a:ext cx="90011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Concluding Thoughts &amp; Future Work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